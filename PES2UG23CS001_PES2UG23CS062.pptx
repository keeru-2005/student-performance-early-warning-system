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2000"/>
  <p:notesSz cx="7010400" cy="9296400"/>
  <p:embeddedFontLst>
    <p:embeddedFont>
      <p:font typeface="Roboto Mon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32" roundtripDataSignature="AMtx7mjha23i9Ro6sdBKYdukHlARdEna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Mono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boldItalic.fntdata"/><Relationship Id="rId30" Type="http://schemas.openxmlformats.org/officeDocument/2006/relationships/font" Target="fonts/RobotoMon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2" y="0"/>
            <a:ext cx="3038648" cy="465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70135" y="0"/>
            <a:ext cx="3038648" cy="465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07988" y="696913"/>
            <a:ext cx="61960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2" y="8829675"/>
            <a:ext cx="3038648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/>
          <p:cNvSpPr txBox="1"/>
          <p:nvPr>
            <p:ph idx="1" type="body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" name="Google Shape;75;p1:notes"/>
          <p:cNvSpPr/>
          <p:nvPr>
            <p:ph idx="2" type="sldImg"/>
          </p:nvPr>
        </p:nvSpPr>
        <p:spPr>
          <a:xfrm>
            <a:off x="407988" y="696913"/>
            <a:ext cx="61960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/>
          <p:nvPr>
            <p:ph idx="2" type="sldImg"/>
          </p:nvPr>
        </p:nvSpPr>
        <p:spPr>
          <a:xfrm>
            <a:off x="407988" y="696913"/>
            <a:ext cx="61960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2:notes"/>
          <p:cNvSpPr txBox="1"/>
          <p:nvPr>
            <p:ph idx="1" type="body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" name="Google Shape;83;p2:notes"/>
          <p:cNvSpPr txBox="1"/>
          <p:nvPr>
            <p:ph idx="12" type="sldNum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/>
          <p:nvPr>
            <p:ph idx="2" type="sldImg"/>
          </p:nvPr>
        </p:nvSpPr>
        <p:spPr>
          <a:xfrm>
            <a:off x="407988" y="696913"/>
            <a:ext cx="61960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 txBox="1"/>
          <p:nvPr>
            <p:ph idx="12" type="sldNum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/>
          <p:nvPr>
            <p:ph idx="2" type="sldImg"/>
          </p:nvPr>
        </p:nvSpPr>
        <p:spPr>
          <a:xfrm>
            <a:off x="407988" y="696913"/>
            <a:ext cx="61960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 txBox="1"/>
          <p:nvPr>
            <p:ph idx="12" type="sldNum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/>
          <p:nvPr>
            <p:ph idx="2" type="sldImg"/>
          </p:nvPr>
        </p:nvSpPr>
        <p:spPr>
          <a:xfrm>
            <a:off x="407988" y="696913"/>
            <a:ext cx="61960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 txBox="1"/>
          <p:nvPr>
            <p:ph idx="12" type="sldNum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/>
          <p:nvPr>
            <p:ph idx="2" type="sldImg"/>
          </p:nvPr>
        </p:nvSpPr>
        <p:spPr>
          <a:xfrm>
            <a:off x="407988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701848" y="4416426"/>
            <a:ext cx="5608200" cy="41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 txBox="1"/>
          <p:nvPr>
            <p:ph idx="12" type="sldNum"/>
          </p:nvPr>
        </p:nvSpPr>
        <p:spPr>
          <a:xfrm>
            <a:off x="3970135" y="8829675"/>
            <a:ext cx="30387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4932df862_1_6:notes"/>
          <p:cNvSpPr/>
          <p:nvPr>
            <p:ph idx="2" type="sldImg"/>
          </p:nvPr>
        </p:nvSpPr>
        <p:spPr>
          <a:xfrm>
            <a:off x="407988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94932df862_1_6:notes"/>
          <p:cNvSpPr txBox="1"/>
          <p:nvPr>
            <p:ph idx="1" type="body"/>
          </p:nvPr>
        </p:nvSpPr>
        <p:spPr>
          <a:xfrm>
            <a:off x="701848" y="4416426"/>
            <a:ext cx="56082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94932df862_1_6:notes"/>
          <p:cNvSpPr txBox="1"/>
          <p:nvPr>
            <p:ph idx="12" type="sldNum"/>
          </p:nvPr>
        </p:nvSpPr>
        <p:spPr>
          <a:xfrm>
            <a:off x="3970135" y="8829675"/>
            <a:ext cx="3038700" cy="465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4932df862_1_15:notes"/>
          <p:cNvSpPr/>
          <p:nvPr>
            <p:ph idx="2" type="sldImg"/>
          </p:nvPr>
        </p:nvSpPr>
        <p:spPr>
          <a:xfrm>
            <a:off x="407988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94932df862_1_15:notes"/>
          <p:cNvSpPr txBox="1"/>
          <p:nvPr>
            <p:ph idx="1" type="body"/>
          </p:nvPr>
        </p:nvSpPr>
        <p:spPr>
          <a:xfrm>
            <a:off x="701848" y="4416426"/>
            <a:ext cx="56082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94932df862_1_15:notes"/>
          <p:cNvSpPr txBox="1"/>
          <p:nvPr>
            <p:ph idx="12" type="sldNum"/>
          </p:nvPr>
        </p:nvSpPr>
        <p:spPr>
          <a:xfrm>
            <a:off x="3970135" y="8829675"/>
            <a:ext cx="3038700" cy="465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4932df862_1_28:notes"/>
          <p:cNvSpPr/>
          <p:nvPr>
            <p:ph idx="2" type="sldImg"/>
          </p:nvPr>
        </p:nvSpPr>
        <p:spPr>
          <a:xfrm>
            <a:off x="407988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94932df862_1_28:notes"/>
          <p:cNvSpPr txBox="1"/>
          <p:nvPr>
            <p:ph idx="1" type="body"/>
          </p:nvPr>
        </p:nvSpPr>
        <p:spPr>
          <a:xfrm>
            <a:off x="701848" y="4416426"/>
            <a:ext cx="56082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94932df862_1_28:notes"/>
          <p:cNvSpPr txBox="1"/>
          <p:nvPr>
            <p:ph idx="12" type="sldNum"/>
          </p:nvPr>
        </p:nvSpPr>
        <p:spPr>
          <a:xfrm>
            <a:off x="3970135" y="8829675"/>
            <a:ext cx="3038700" cy="465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4932df862_1_43:notes"/>
          <p:cNvSpPr/>
          <p:nvPr>
            <p:ph idx="2" type="sldImg"/>
          </p:nvPr>
        </p:nvSpPr>
        <p:spPr>
          <a:xfrm>
            <a:off x="407988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94932df862_1_43:notes"/>
          <p:cNvSpPr txBox="1"/>
          <p:nvPr>
            <p:ph idx="1" type="body"/>
          </p:nvPr>
        </p:nvSpPr>
        <p:spPr>
          <a:xfrm>
            <a:off x="701848" y="4416426"/>
            <a:ext cx="56082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94932df862_1_43:notes"/>
          <p:cNvSpPr txBox="1"/>
          <p:nvPr>
            <p:ph idx="12" type="sldNum"/>
          </p:nvPr>
        </p:nvSpPr>
        <p:spPr>
          <a:xfrm>
            <a:off x="3970135" y="8829675"/>
            <a:ext cx="3038700" cy="465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d09227d40_1_0:notes"/>
          <p:cNvSpPr/>
          <p:nvPr>
            <p:ph idx="2" type="sldImg"/>
          </p:nvPr>
        </p:nvSpPr>
        <p:spPr>
          <a:xfrm>
            <a:off x="407988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7d09227d40_1_0:notes"/>
          <p:cNvSpPr txBox="1"/>
          <p:nvPr>
            <p:ph idx="1" type="body"/>
          </p:nvPr>
        </p:nvSpPr>
        <p:spPr>
          <a:xfrm>
            <a:off x="701848" y="4416426"/>
            <a:ext cx="5608200" cy="41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g37d09227d40_1_0:notes"/>
          <p:cNvSpPr txBox="1"/>
          <p:nvPr>
            <p:ph idx="12" type="sldNum"/>
          </p:nvPr>
        </p:nvSpPr>
        <p:spPr>
          <a:xfrm>
            <a:off x="3970135" y="8829675"/>
            <a:ext cx="30387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4932df862_1_60:notes"/>
          <p:cNvSpPr/>
          <p:nvPr>
            <p:ph idx="2" type="sldImg"/>
          </p:nvPr>
        </p:nvSpPr>
        <p:spPr>
          <a:xfrm>
            <a:off x="407988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94932df862_1_60:notes"/>
          <p:cNvSpPr txBox="1"/>
          <p:nvPr>
            <p:ph idx="1" type="body"/>
          </p:nvPr>
        </p:nvSpPr>
        <p:spPr>
          <a:xfrm>
            <a:off x="701848" y="4416426"/>
            <a:ext cx="56082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94932df862_1_60:notes"/>
          <p:cNvSpPr txBox="1"/>
          <p:nvPr>
            <p:ph idx="12" type="sldNum"/>
          </p:nvPr>
        </p:nvSpPr>
        <p:spPr>
          <a:xfrm>
            <a:off x="3970135" y="8829675"/>
            <a:ext cx="3038700" cy="465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7d09227d40_1_14:notes"/>
          <p:cNvSpPr/>
          <p:nvPr>
            <p:ph idx="2" type="sldImg"/>
          </p:nvPr>
        </p:nvSpPr>
        <p:spPr>
          <a:xfrm>
            <a:off x="407988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7d09227d40_1_14:notes"/>
          <p:cNvSpPr txBox="1"/>
          <p:nvPr>
            <p:ph idx="1" type="body"/>
          </p:nvPr>
        </p:nvSpPr>
        <p:spPr>
          <a:xfrm>
            <a:off x="701848" y="4416426"/>
            <a:ext cx="5608200" cy="41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g37d09227d40_1_14:notes"/>
          <p:cNvSpPr txBox="1"/>
          <p:nvPr>
            <p:ph idx="12" type="sldNum"/>
          </p:nvPr>
        </p:nvSpPr>
        <p:spPr>
          <a:xfrm>
            <a:off x="3970135" y="8829675"/>
            <a:ext cx="30387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7:notes"/>
          <p:cNvSpPr/>
          <p:nvPr>
            <p:ph idx="2" type="sldImg"/>
          </p:nvPr>
        </p:nvSpPr>
        <p:spPr>
          <a:xfrm>
            <a:off x="407988" y="696913"/>
            <a:ext cx="61960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94932df862_1_73:notes"/>
          <p:cNvSpPr/>
          <p:nvPr>
            <p:ph idx="2" type="sldImg"/>
          </p:nvPr>
        </p:nvSpPr>
        <p:spPr>
          <a:xfrm>
            <a:off x="407988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94932df862_1_73:notes"/>
          <p:cNvSpPr txBox="1"/>
          <p:nvPr>
            <p:ph idx="1" type="body"/>
          </p:nvPr>
        </p:nvSpPr>
        <p:spPr>
          <a:xfrm>
            <a:off x="701848" y="4416426"/>
            <a:ext cx="5608200" cy="418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94932df862_1_73:notes"/>
          <p:cNvSpPr txBox="1"/>
          <p:nvPr>
            <p:ph idx="12" type="sldNum"/>
          </p:nvPr>
        </p:nvSpPr>
        <p:spPr>
          <a:xfrm>
            <a:off x="3970135" y="8829675"/>
            <a:ext cx="3038700" cy="465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 txBox="1"/>
          <p:nvPr>
            <p:ph idx="1" type="body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p8:notes"/>
          <p:cNvSpPr/>
          <p:nvPr>
            <p:ph idx="2" type="sldImg"/>
          </p:nvPr>
        </p:nvSpPr>
        <p:spPr>
          <a:xfrm>
            <a:off x="407988" y="696913"/>
            <a:ext cx="61960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948ace3d7c_0_61:notes"/>
          <p:cNvSpPr txBox="1"/>
          <p:nvPr>
            <p:ph idx="1" type="body"/>
          </p:nvPr>
        </p:nvSpPr>
        <p:spPr>
          <a:xfrm>
            <a:off x="701848" y="4416426"/>
            <a:ext cx="5608200" cy="41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g3948ace3d7c_0_61:notes"/>
          <p:cNvSpPr/>
          <p:nvPr>
            <p:ph idx="2" type="sldImg"/>
          </p:nvPr>
        </p:nvSpPr>
        <p:spPr>
          <a:xfrm>
            <a:off x="407988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948ace3d7c_0_72:notes"/>
          <p:cNvSpPr txBox="1"/>
          <p:nvPr>
            <p:ph idx="1" type="body"/>
          </p:nvPr>
        </p:nvSpPr>
        <p:spPr>
          <a:xfrm>
            <a:off x="701848" y="4416426"/>
            <a:ext cx="5608200" cy="41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g3948ace3d7c_0_72:notes"/>
          <p:cNvSpPr/>
          <p:nvPr>
            <p:ph idx="2" type="sldImg"/>
          </p:nvPr>
        </p:nvSpPr>
        <p:spPr>
          <a:xfrm>
            <a:off x="407988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948ace3d7c_0_80:notes"/>
          <p:cNvSpPr txBox="1"/>
          <p:nvPr>
            <p:ph idx="1" type="body"/>
          </p:nvPr>
        </p:nvSpPr>
        <p:spPr>
          <a:xfrm>
            <a:off x="701848" y="4416426"/>
            <a:ext cx="5608200" cy="41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g3948ace3d7c_0_80:notes"/>
          <p:cNvSpPr/>
          <p:nvPr>
            <p:ph idx="2" type="sldImg"/>
          </p:nvPr>
        </p:nvSpPr>
        <p:spPr>
          <a:xfrm>
            <a:off x="407988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948ace3d7c_0_89:notes"/>
          <p:cNvSpPr txBox="1"/>
          <p:nvPr>
            <p:ph idx="1" type="body"/>
          </p:nvPr>
        </p:nvSpPr>
        <p:spPr>
          <a:xfrm>
            <a:off x="701848" y="4416426"/>
            <a:ext cx="5608200" cy="41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g3948ace3d7c_0_89:notes"/>
          <p:cNvSpPr/>
          <p:nvPr>
            <p:ph idx="2" type="sldImg"/>
          </p:nvPr>
        </p:nvSpPr>
        <p:spPr>
          <a:xfrm>
            <a:off x="407988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948ace3d7c_0_103:notes"/>
          <p:cNvSpPr txBox="1"/>
          <p:nvPr>
            <p:ph idx="1" type="body"/>
          </p:nvPr>
        </p:nvSpPr>
        <p:spPr>
          <a:xfrm>
            <a:off x="701848" y="4416426"/>
            <a:ext cx="5608200" cy="41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" name="Google Shape;244;g3948ace3d7c_0_103:notes"/>
          <p:cNvSpPr/>
          <p:nvPr>
            <p:ph idx="2" type="sldImg"/>
          </p:nvPr>
        </p:nvSpPr>
        <p:spPr>
          <a:xfrm>
            <a:off x="407988" y="696913"/>
            <a:ext cx="6195900" cy="348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/>
          <p:cNvSpPr txBox="1"/>
          <p:nvPr>
            <p:ph idx="1" type="body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9:notes"/>
          <p:cNvSpPr/>
          <p:nvPr>
            <p:ph idx="2" type="sldImg"/>
          </p:nvPr>
        </p:nvSpPr>
        <p:spPr>
          <a:xfrm>
            <a:off x="407988" y="696913"/>
            <a:ext cx="6196012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1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1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9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descr="PESSAT - All India Online Entrance Exam for Admission to PES University" id="15" name="Google Shape;15;p1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167336" y="365125"/>
            <a:ext cx="1162050" cy="5334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Relationship Id="rId6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github.com/ananyalakshmi9/Student-Performance-Early-Warning-System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"/>
          <p:cNvSpPr/>
          <p:nvPr/>
        </p:nvSpPr>
        <p:spPr>
          <a:xfrm>
            <a:off x="1587075" y="2001950"/>
            <a:ext cx="863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891" lvl="0" marL="342891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IN" sz="2800">
                <a:solidFill>
                  <a:srgbClr val="33CCCC"/>
                </a:solidFill>
                <a:latin typeface="Trebuchet MS"/>
                <a:ea typeface="Trebuchet MS"/>
                <a:cs typeface="Trebuchet MS"/>
                <a:sym typeface="Trebuchet MS"/>
              </a:rPr>
              <a:t>UE23CS352A </a:t>
            </a:r>
            <a:r>
              <a:rPr b="1" i="0" lang="en-IN" sz="2800" u="none" cap="none" strike="noStrike">
                <a:solidFill>
                  <a:srgbClr val="33CCCC"/>
                </a:solidFill>
                <a:latin typeface="Trebuchet MS"/>
                <a:ea typeface="Trebuchet MS"/>
                <a:cs typeface="Trebuchet MS"/>
                <a:sym typeface="Trebuchet MS"/>
              </a:rPr>
              <a:t>– </a:t>
            </a:r>
            <a:r>
              <a:rPr b="1" lang="en-IN" sz="2800">
                <a:solidFill>
                  <a:srgbClr val="33CCCC"/>
                </a:solidFill>
                <a:latin typeface="Trebuchet MS"/>
                <a:ea typeface="Trebuchet MS"/>
                <a:cs typeface="Trebuchet MS"/>
                <a:sym typeface="Trebuchet MS"/>
              </a:rPr>
              <a:t>MACHINE LEARNING PROJECT</a:t>
            </a:r>
            <a:endParaRPr b="1" sz="2800">
              <a:solidFill>
                <a:srgbClr val="33CC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891" lvl="0" marL="342891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8" name="Google Shape;78;p1"/>
          <p:cNvSpPr txBox="1"/>
          <p:nvPr/>
        </p:nvSpPr>
        <p:spPr>
          <a:xfrm>
            <a:off x="1981200" y="2951500"/>
            <a:ext cx="8458200" cy="28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Title   : </a:t>
            </a:r>
            <a:r>
              <a:rPr lang="en-I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Student Performance Early Warning System</a:t>
            </a:r>
            <a:endParaRPr b="0" i="0" sz="2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Guide :</a:t>
            </a:r>
            <a:r>
              <a:rPr lang="en-I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b="0" i="0" lang="en-IN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Dr. </a:t>
            </a:r>
            <a:r>
              <a:rPr lang="en-I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Prema R</a:t>
            </a:r>
            <a:r>
              <a:rPr b="0" i="0" lang="en-IN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</a:t>
            </a:r>
            <a:endParaRPr b="0" i="0" sz="2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Team  :</a:t>
            </a:r>
            <a:r>
              <a:rPr lang="en-I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b="0" i="0" lang="en-IN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 R Keerthana 		[PES2UG23CS001]</a:t>
            </a:r>
            <a:endParaRPr b="0" i="0" sz="2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  </a:t>
            </a:r>
            <a:r>
              <a:rPr b="0" i="0" lang="en-IN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Ananya Lakshmi 		[PES2UG23CS062]</a:t>
            </a:r>
            <a:endParaRPr b="0" i="0" sz="2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9" name="Google Shape;79;p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"/>
          <p:cNvSpPr/>
          <p:nvPr/>
        </p:nvSpPr>
        <p:spPr>
          <a:xfrm>
            <a:off x="3048000" y="1581155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"/>
          <p:cNvSpPr txBox="1"/>
          <p:nvPr/>
        </p:nvSpPr>
        <p:spPr>
          <a:xfrm>
            <a:off x="1051900" y="1454950"/>
            <a:ext cx="85344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6857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15900" lvl="0" marL="685791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79400" lvl="0" marL="6857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IN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Problem Statement 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79400" lvl="0" marL="6857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•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Objectives and Workflow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79400" lvl="0" marL="6857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Dataset overview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79400" lvl="0" marL="6857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Data preprocessing and feature engineering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79400" lvl="0" marL="6857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Three key insights from the data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79400" lvl="0" marL="6857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Understanding the distribution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79400" lvl="0" marL="6857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•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Link Between Prior Grades and Final Risk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79400" lvl="0" marL="6857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•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Impact of Previous Failures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79400" lvl="0" marL="6857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•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Models implemented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79400" lvl="0" marL="6857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•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Model evaluation metrics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79400" lvl="0" marL="6857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•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Results summary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79400" lvl="0" marL="6857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•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Recommended model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79400" lvl="0" marL="6857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•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Actionable insights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79400" lvl="0" marL="6857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•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Conclusion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79400" lvl="0" marL="6857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•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Result and Visuals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7" name="Google Shape;87;p2"/>
          <p:cNvSpPr txBox="1"/>
          <p:nvPr/>
        </p:nvSpPr>
        <p:spPr>
          <a:xfrm>
            <a:off x="4191000" y="1143002"/>
            <a:ext cx="6477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891" lvl="0" marL="34289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Outline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"/>
          <p:cNvSpPr txBox="1"/>
          <p:nvPr/>
        </p:nvSpPr>
        <p:spPr>
          <a:xfrm>
            <a:off x="1197775" y="1905000"/>
            <a:ext cx="96054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en-IN" sz="1700">
                <a:solidFill>
                  <a:srgbClr val="33CCCC"/>
                </a:solidFill>
                <a:latin typeface="Trebuchet MS"/>
                <a:ea typeface="Trebuchet MS"/>
                <a:cs typeface="Trebuchet MS"/>
                <a:sym typeface="Trebuchet MS"/>
              </a:rPr>
              <a:t>Goal:</a:t>
            </a:r>
            <a:endParaRPr i="0" sz="1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To predict students at risk of poor performance or dropout using academic, demographic, and social factors.</a:t>
            </a:r>
            <a:endParaRPr i="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1700">
                <a:solidFill>
                  <a:srgbClr val="33CCCC"/>
                </a:solidFill>
                <a:latin typeface="Trebuchet MS"/>
                <a:ea typeface="Trebuchet MS"/>
                <a:cs typeface="Trebuchet MS"/>
                <a:sym typeface="Trebuchet MS"/>
              </a:rPr>
              <a:t>Why it matters:</a:t>
            </a:r>
            <a:endParaRPr i="0" sz="17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○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Institutions face difficulty in identifying struggling students early.</a:t>
            </a:r>
            <a:b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rebuchet MS"/>
              <a:buChar char="○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Early intervention can improve retention and success rates.</a:t>
            </a:r>
            <a:br>
              <a:rPr lang="en-IN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 sz="1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“Our model acts as an early warning system — enabling educators to intervene before it’s too late.”</a:t>
            </a:r>
            <a:endParaRPr i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5" name="Google Shape;95;p3"/>
          <p:cNvSpPr txBox="1"/>
          <p:nvPr/>
        </p:nvSpPr>
        <p:spPr>
          <a:xfrm>
            <a:off x="4191000" y="1143002"/>
            <a:ext cx="6477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891" lvl="0" marL="34289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Problem Statement</a:t>
            </a:r>
            <a:endParaRPr b="0" i="0" sz="2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"/>
          <p:cNvSpPr txBox="1"/>
          <p:nvPr/>
        </p:nvSpPr>
        <p:spPr>
          <a:xfrm>
            <a:off x="1295400" y="1890650"/>
            <a:ext cx="8077200" cy="4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700">
                <a:solidFill>
                  <a:srgbClr val="33CCCC"/>
                </a:solidFill>
                <a:latin typeface="Trebuchet MS"/>
                <a:ea typeface="Trebuchet MS"/>
                <a:cs typeface="Trebuchet MS"/>
                <a:sym typeface="Trebuchet MS"/>
              </a:rPr>
              <a:t>Objectives:</a:t>
            </a:r>
            <a:endParaRPr sz="1700">
              <a:solidFill>
                <a:srgbClr val="33CC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●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Build a predictive model that categorizes students into High, Medium, and Low risk.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●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Identify key factors driving academic performance.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●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Provide actionable insights for educators via interpretable reports.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●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Evaluate and compare multiple models for accuracy and recall.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700">
                <a:solidFill>
                  <a:srgbClr val="33CCCC"/>
                </a:solidFill>
              </a:rPr>
              <a:t>Workflow:</a:t>
            </a:r>
            <a:endParaRPr b="1" sz="1700">
              <a:solidFill>
                <a:srgbClr val="33CCCC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-IN">
                <a:solidFill>
                  <a:schemeClr val="dk1"/>
                </a:solidFill>
              </a:rPr>
              <a:t>Feature Engineering:</a:t>
            </a:r>
            <a:r>
              <a:rPr lang="en-IN">
                <a:solidFill>
                  <a:schemeClr val="dk1"/>
                </a:solidFill>
              </a:rPr>
              <a:t> Create new, insightful features from the data.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-IN">
                <a:solidFill>
                  <a:schemeClr val="dk1"/>
                </a:solidFill>
              </a:rPr>
              <a:t>Exploratory Data Analysis (EDA):</a:t>
            </a:r>
            <a:r>
              <a:rPr lang="en-IN">
                <a:solidFill>
                  <a:schemeClr val="dk1"/>
                </a:solidFill>
              </a:rPr>
              <a:t> Visualize data to find key patterns.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-IN">
                <a:solidFill>
                  <a:schemeClr val="dk1"/>
                </a:solidFill>
              </a:rPr>
              <a:t>Modeling:</a:t>
            </a:r>
            <a:r>
              <a:rPr lang="en-IN">
                <a:solidFill>
                  <a:schemeClr val="dk1"/>
                </a:solidFill>
              </a:rPr>
              <a:t> Train and tune four different classification models.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-IN">
                <a:solidFill>
                  <a:schemeClr val="dk1"/>
                </a:solidFill>
              </a:rPr>
              <a:t>Evaluation:</a:t>
            </a:r>
            <a:r>
              <a:rPr lang="en-IN">
                <a:solidFill>
                  <a:schemeClr val="dk1"/>
                </a:solidFill>
              </a:rPr>
              <a:t> Compare models to find the best performer and identify key risk factors.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3" name="Google Shape;103;p4"/>
          <p:cNvSpPr txBox="1"/>
          <p:nvPr/>
        </p:nvSpPr>
        <p:spPr>
          <a:xfrm>
            <a:off x="2895600" y="990600"/>
            <a:ext cx="7848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891" lvl="0" marL="34289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Objectives and Workflow</a:t>
            </a:r>
            <a:endParaRPr b="0" i="0" sz="2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"/>
          <p:cNvSpPr txBox="1"/>
          <p:nvPr/>
        </p:nvSpPr>
        <p:spPr>
          <a:xfrm>
            <a:off x="1219200" y="1746550"/>
            <a:ext cx="9448800" cy="47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1300">
                <a:solidFill>
                  <a:srgbClr val="33CCCC"/>
                </a:solidFill>
                <a:latin typeface="Trebuchet MS"/>
                <a:ea typeface="Trebuchet MS"/>
                <a:cs typeface="Trebuchet MS"/>
                <a:sym typeface="Trebuchet MS"/>
              </a:rPr>
              <a:t>D</a:t>
            </a:r>
            <a:r>
              <a:rPr b="1" lang="en-IN">
                <a:solidFill>
                  <a:srgbClr val="33CCCC"/>
                </a:solidFill>
                <a:latin typeface="Trebuchet MS"/>
                <a:ea typeface="Trebuchet MS"/>
                <a:cs typeface="Trebuchet MS"/>
                <a:sym typeface="Trebuchet MS"/>
              </a:rPr>
              <a:t>ataset		: </a:t>
            </a: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student-por.csv </a:t>
            </a:r>
            <a:r>
              <a:rPr lang="en-IN">
                <a:solidFill>
                  <a:schemeClr val="dk1"/>
                </a:solidFill>
              </a:rPr>
              <a:t>(Portuguese Secondary School Dataset)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>
                <a:solidFill>
                  <a:srgbClr val="33CCCC"/>
                </a:solidFill>
                <a:latin typeface="Trebuchet MS"/>
                <a:ea typeface="Trebuchet MS"/>
                <a:cs typeface="Trebuchet MS"/>
                <a:sym typeface="Trebuchet MS"/>
              </a:rPr>
              <a:t>Source		:</a:t>
            </a:r>
            <a:r>
              <a:rPr lang="en-IN">
                <a:solidFill>
                  <a:schemeClr val="dk1"/>
                </a:solidFill>
              </a:rPr>
              <a:t> UCI Machine Learning Repository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>
                <a:solidFill>
                  <a:srgbClr val="33CCCC"/>
                </a:solidFill>
                <a:latin typeface="Trebuchet MS"/>
                <a:ea typeface="Trebuchet MS"/>
                <a:cs typeface="Trebuchet MS"/>
                <a:sym typeface="Trebuchet MS"/>
              </a:rPr>
              <a:t>Key Features	:</a:t>
            </a:r>
            <a:endParaRPr b="1">
              <a:solidFill>
                <a:srgbClr val="33CC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IN">
                <a:solidFill>
                  <a:srgbClr val="33CCCC"/>
                </a:solidFill>
                <a:latin typeface="Trebuchet MS"/>
                <a:ea typeface="Trebuchet MS"/>
                <a:cs typeface="Trebuchet MS"/>
                <a:sym typeface="Trebuchet MS"/>
              </a:rPr>
              <a:t>Academic:</a:t>
            </a:r>
            <a:r>
              <a:rPr lang="en-IN">
                <a:solidFill>
                  <a:schemeClr val="dk1"/>
                </a:solidFill>
              </a:rPr>
              <a:t> G1, G2, studytime, failures</a:t>
            </a:r>
            <a:br>
              <a:rPr lang="en-I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IN">
                <a:solidFill>
                  <a:srgbClr val="33CCCC"/>
                </a:solidFill>
                <a:latin typeface="Trebuchet MS"/>
                <a:ea typeface="Trebuchet MS"/>
                <a:cs typeface="Trebuchet MS"/>
                <a:sym typeface="Trebuchet MS"/>
              </a:rPr>
              <a:t>Behavioral:</a:t>
            </a:r>
            <a:r>
              <a:rPr lang="en-IN">
                <a:solidFill>
                  <a:schemeClr val="dk1"/>
                </a:solidFill>
              </a:rPr>
              <a:t> absences, freetime, alcohol use</a:t>
            </a:r>
            <a:br>
              <a:rPr lang="en-I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IN">
                <a:solidFill>
                  <a:srgbClr val="33CCCC"/>
                </a:solidFill>
                <a:latin typeface="Trebuchet MS"/>
                <a:ea typeface="Trebuchet MS"/>
                <a:cs typeface="Trebuchet MS"/>
                <a:sym typeface="Trebuchet MS"/>
              </a:rPr>
              <a:t>Demographic:</a:t>
            </a:r>
            <a:r>
              <a:rPr lang="en-IN">
                <a:solidFill>
                  <a:schemeClr val="dk1"/>
                </a:solidFill>
              </a:rPr>
              <a:t> parental education, family relations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>
                <a:solidFill>
                  <a:srgbClr val="33CCCC"/>
                </a:solidFill>
                <a:latin typeface="Trebuchet MS"/>
                <a:ea typeface="Trebuchet MS"/>
                <a:cs typeface="Trebuchet MS"/>
                <a:sym typeface="Trebuchet MS"/>
              </a:rPr>
              <a:t>Target Variable	:</a:t>
            </a:r>
            <a:r>
              <a:rPr lang="en-IN">
                <a:solidFill>
                  <a:schemeClr val="dk1"/>
                </a:solidFill>
              </a:rPr>
              <a:t> Final Grade (</a:t>
            </a:r>
            <a:r>
              <a:rPr b="1" lang="en-IN">
                <a:solidFill>
                  <a:schemeClr val="dk1"/>
                </a:solidFill>
              </a:rPr>
              <a:t>G3</a:t>
            </a:r>
            <a:r>
              <a:rPr lang="en-IN">
                <a:solidFill>
                  <a:schemeClr val="dk1"/>
                </a:solidFill>
              </a:rPr>
              <a:t>) → Categorized into </a:t>
            </a:r>
            <a:r>
              <a:rPr i="1" lang="en-IN">
                <a:solidFill>
                  <a:schemeClr val="dk1"/>
                </a:solidFill>
              </a:rPr>
              <a:t>High</a:t>
            </a:r>
            <a:r>
              <a:rPr lang="en-IN">
                <a:solidFill>
                  <a:schemeClr val="dk1"/>
                </a:solidFill>
              </a:rPr>
              <a:t>, </a:t>
            </a:r>
            <a:r>
              <a:rPr i="1" lang="en-IN">
                <a:solidFill>
                  <a:schemeClr val="dk1"/>
                </a:solidFill>
              </a:rPr>
              <a:t>Medium</a:t>
            </a:r>
            <a:r>
              <a:rPr lang="en-IN">
                <a:solidFill>
                  <a:schemeClr val="dk1"/>
                </a:solidFill>
              </a:rPr>
              <a:t>, </a:t>
            </a:r>
            <a:r>
              <a:rPr i="1" lang="en-IN">
                <a:solidFill>
                  <a:schemeClr val="dk1"/>
                </a:solidFill>
              </a:rPr>
              <a:t>Low Risk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33CC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1" name="Google Shape;111;p5"/>
          <p:cNvSpPr txBox="1"/>
          <p:nvPr/>
        </p:nvSpPr>
        <p:spPr>
          <a:xfrm>
            <a:off x="2895600" y="990600"/>
            <a:ext cx="78486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891" lvl="0" marL="34289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Dataset Overview</a:t>
            </a:r>
            <a:endParaRPr b="0" i="0" sz="2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/>
          <p:nvPr/>
        </p:nvSpPr>
        <p:spPr>
          <a:xfrm>
            <a:off x="3048000" y="1581155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6"/>
          <p:cNvSpPr txBox="1"/>
          <p:nvPr/>
        </p:nvSpPr>
        <p:spPr>
          <a:xfrm>
            <a:off x="1905000" y="904725"/>
            <a:ext cx="8763000" cy="9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Data Preprocessing &amp; Feature</a:t>
            </a:r>
            <a:r>
              <a:rPr lang="en-IN" sz="240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I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Engineering</a:t>
            </a:r>
            <a:endParaRPr b="1" sz="1300">
              <a:solidFill>
                <a:schemeClr val="dk1"/>
              </a:solidFill>
            </a:endParaRPr>
          </a:p>
          <a:p>
            <a:pPr indent="-342900" lvl="0" marL="342900" marR="0" rtl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9" name="Google Shape;119;p6"/>
          <p:cNvSpPr txBox="1"/>
          <p:nvPr/>
        </p:nvSpPr>
        <p:spPr>
          <a:xfrm>
            <a:off x="914400" y="1752600"/>
            <a:ext cx="88392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700">
                <a:solidFill>
                  <a:srgbClr val="33CCCC"/>
                </a:solidFill>
              </a:rPr>
              <a:t>Feature Engineering (Creating Smarter Data):</a:t>
            </a:r>
            <a:endParaRPr b="1" sz="1700">
              <a:solidFill>
                <a:srgbClr val="33CCCC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G_avg:</a:t>
            </a: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Combined G1 and G2 grades into a single "academic momentum" score.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total_alcohol:</a:t>
            </a: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Summed workday and weekend alcohol intake for a holistic view.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study_vs_play:</a:t>
            </a: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Created a ratio of study time vs. free time to measure balance.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700">
                <a:solidFill>
                  <a:srgbClr val="33CCCC"/>
                </a:solidFill>
              </a:rPr>
              <a:t>Preprocessing Pipeline (Making Data Model-Ready):</a:t>
            </a:r>
            <a:endParaRPr b="1" sz="1700">
              <a:solidFill>
                <a:srgbClr val="33CCCC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IN">
                <a:solidFill>
                  <a:schemeClr val="dk1"/>
                </a:solidFill>
              </a:rPr>
              <a:t>Categorical Encoding	:</a:t>
            </a:r>
            <a:r>
              <a:rPr lang="en-IN">
                <a:solidFill>
                  <a:schemeClr val="dk1"/>
                </a:solidFill>
              </a:rPr>
              <a:t> Converted text data (like </a:t>
            </a:r>
            <a:r>
              <a:rPr lang="en-IN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sex</a:t>
            </a:r>
            <a:r>
              <a:rPr lang="en-IN">
                <a:solidFill>
                  <a:schemeClr val="dk1"/>
                </a:solidFill>
              </a:rPr>
              <a:t>, </a:t>
            </a:r>
            <a:r>
              <a:rPr lang="en-IN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address</a:t>
            </a:r>
            <a:r>
              <a:rPr lang="en-IN">
                <a:solidFill>
                  <a:schemeClr val="dk1"/>
                </a:solidFill>
              </a:rPr>
              <a:t>) into numbers using One-Hot Encoding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IN">
                <a:solidFill>
                  <a:schemeClr val="dk1"/>
                </a:solidFill>
              </a:rPr>
              <a:t>Feature Scaling		:</a:t>
            </a:r>
            <a:r>
              <a:rPr lang="en-IN">
                <a:solidFill>
                  <a:schemeClr val="dk1"/>
                </a:solidFill>
              </a:rPr>
              <a:t> Standardized all numerical features to ensure fair comparison and improve model performance.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4932df862_1_6"/>
          <p:cNvSpPr/>
          <p:nvPr/>
        </p:nvSpPr>
        <p:spPr>
          <a:xfrm>
            <a:off x="3048000" y="1581155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94932df862_1_6"/>
          <p:cNvSpPr txBox="1"/>
          <p:nvPr/>
        </p:nvSpPr>
        <p:spPr>
          <a:xfrm>
            <a:off x="1905000" y="948226"/>
            <a:ext cx="8763000" cy="9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Three Key Insights from the Data</a:t>
            </a:r>
            <a:endParaRPr b="1" sz="1300">
              <a:solidFill>
                <a:schemeClr val="dk1"/>
              </a:solidFill>
            </a:endParaRPr>
          </a:p>
          <a:p>
            <a:pPr indent="-342900" lvl="0" marL="342900" marR="0" rtl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7" name="Google Shape;127;g394932df862_1_6"/>
          <p:cNvSpPr txBox="1"/>
          <p:nvPr/>
        </p:nvSpPr>
        <p:spPr>
          <a:xfrm>
            <a:off x="914400" y="1752600"/>
            <a:ext cx="88392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Before building any models, our initial analysis revealed three strong patterns related to academic risk: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Data Imbalance	:</a:t>
            </a: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"Medium Risk" category is the largest.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Past Grades	:</a:t>
            </a: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 student's prior grades are a very strong signal.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Failures		:</a:t>
            </a: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 history of failing classes dramatically increases risk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33CCCC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4932df862_1_15"/>
          <p:cNvSpPr/>
          <p:nvPr/>
        </p:nvSpPr>
        <p:spPr>
          <a:xfrm>
            <a:off x="3048000" y="1581155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94932df862_1_15"/>
          <p:cNvSpPr txBox="1"/>
          <p:nvPr/>
        </p:nvSpPr>
        <p:spPr>
          <a:xfrm>
            <a:off x="1905000" y="890227"/>
            <a:ext cx="8763000" cy="9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Understanding the Risk Distribution</a:t>
            </a:r>
            <a:endParaRPr b="1" sz="1300">
              <a:solidFill>
                <a:schemeClr val="dk1"/>
              </a:solidFill>
            </a:endParaRPr>
          </a:p>
          <a:p>
            <a:pPr indent="-342900" lvl="0" marL="342900" marR="0" rtl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5" name="Google Shape;135;g394932df862_1_15"/>
          <p:cNvSpPr txBox="1"/>
          <p:nvPr/>
        </p:nvSpPr>
        <p:spPr>
          <a:xfrm>
            <a:off x="914400" y="1752600"/>
            <a:ext cx="88392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 lvl="0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1700">
                <a:solidFill>
                  <a:srgbClr val="33CCCC"/>
                </a:solidFill>
                <a:latin typeface="Trebuchet MS"/>
                <a:ea typeface="Trebuchet MS"/>
                <a:cs typeface="Trebuchet MS"/>
                <a:sym typeface="Trebuchet MS"/>
              </a:rPr>
              <a:t>     The dataset is imbalanced:</a:t>
            </a:r>
            <a:r>
              <a:rPr b="1" lang="en-IN" sz="1700">
                <a:solidFill>
                  <a:srgbClr val="33CCCC"/>
                </a:solidFill>
              </a:rPr>
              <a:t> 	</a:t>
            </a:r>
            <a:endParaRPr b="1" sz="1700">
              <a:solidFill>
                <a:srgbClr val="33CCCC"/>
              </a:solidFill>
            </a:endParaRPr>
          </a:p>
          <a:p>
            <a:pPr indent="457200" lvl="0" marL="4572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There are significantly more students in </a:t>
            </a: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"Medium </a:t>
            </a: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Risk" category than in the "High" or "Low" risk groups.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700">
                <a:solidFill>
                  <a:srgbClr val="33CCCC"/>
                </a:solidFill>
                <a:latin typeface="Trebuchet MS"/>
                <a:ea typeface="Trebuchet MS"/>
                <a:cs typeface="Trebuchet MS"/>
                <a:sym typeface="Trebuchet MS"/>
              </a:rPr>
              <a:t>Action Taken:</a:t>
            </a:r>
            <a:endParaRPr sz="1700">
              <a:solidFill>
                <a:srgbClr val="33CC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 lvl="0" marL="4572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To prevent our model from being biased, we used class_weight='balanced' during training. This technique forces the model to pay more attention to the under-represented "High Risk" students.</a:t>
            </a:r>
            <a:endParaRPr sz="1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                   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36" name="Google Shape;136;g394932df862_1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8300" y="1830175"/>
            <a:ext cx="3900199" cy="351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4932df862_1_28"/>
          <p:cNvSpPr/>
          <p:nvPr/>
        </p:nvSpPr>
        <p:spPr>
          <a:xfrm>
            <a:off x="3048000" y="1581155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94932df862_1_28"/>
          <p:cNvSpPr txBox="1"/>
          <p:nvPr/>
        </p:nvSpPr>
        <p:spPr>
          <a:xfrm>
            <a:off x="1905000" y="861227"/>
            <a:ext cx="8763000" cy="9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Link Between Prior Grades and Final Risk</a:t>
            </a:r>
            <a:endParaRPr b="1" sz="1300">
              <a:solidFill>
                <a:schemeClr val="dk1"/>
              </a:solidFill>
            </a:endParaRPr>
          </a:p>
          <a:p>
            <a:pPr indent="-342900" lvl="0" marL="342900" marR="0" rtl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4" name="Google Shape;144;g394932df862_1_28"/>
          <p:cNvSpPr txBox="1"/>
          <p:nvPr/>
        </p:nvSpPr>
        <p:spPr>
          <a:xfrm>
            <a:off x="914400" y="1752600"/>
            <a:ext cx="88392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CC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 lvl="0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1700">
                <a:solidFill>
                  <a:srgbClr val="33CCC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</a:t>
            </a:r>
            <a:r>
              <a:rPr b="1" lang="en-IN" sz="1700">
                <a:solidFill>
                  <a:srgbClr val="33CCCC"/>
                </a:solidFill>
              </a:rPr>
              <a:t>Observation:</a:t>
            </a:r>
            <a:r>
              <a:rPr lang="en-IN" sz="1700">
                <a:solidFill>
                  <a:srgbClr val="33CCCC"/>
                </a:solidFill>
              </a:rPr>
              <a:t> </a:t>
            </a:r>
            <a:endParaRPr sz="1700">
              <a:solidFill>
                <a:srgbClr val="33CCCC"/>
              </a:solidFill>
            </a:endParaRPr>
          </a:p>
          <a:p>
            <a:pPr indent="457200" lvl="0" marL="4572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</a:rPr>
              <a:t>There is a clear and direct relationship. Students who end up in the </a:t>
            </a:r>
            <a:r>
              <a:rPr b="1" lang="en-IN">
                <a:solidFill>
                  <a:schemeClr val="dk1"/>
                </a:solidFill>
              </a:rPr>
              <a:t>High Risk</a:t>
            </a:r>
            <a:r>
              <a:rPr lang="en-IN">
                <a:solidFill>
                  <a:schemeClr val="dk1"/>
                </a:solidFill>
              </a:rPr>
              <a:t> category have significantly lower average grades from previous periods.</a:t>
            </a:r>
            <a:endParaRPr>
              <a:solidFill>
                <a:schemeClr val="dk1"/>
              </a:solidFill>
            </a:endParaRPr>
          </a:p>
          <a:p>
            <a:pPr indent="0" lvl="0" marL="4572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1700">
                <a:solidFill>
                  <a:srgbClr val="33CCCC"/>
                </a:solidFill>
              </a:rPr>
              <a:t>Hypothesis:</a:t>
            </a:r>
            <a:endParaRPr b="1" sz="1700">
              <a:solidFill>
                <a:srgbClr val="33CCCC"/>
              </a:solidFill>
            </a:endParaRPr>
          </a:p>
          <a:p>
            <a:pPr indent="457200" lvl="0" marL="4572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 student's academic history is one of the most powerful predictors of their final outcome.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 lvl="0" marL="4572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                   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45" name="Google Shape;145;g394932df862_1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2300" y="2062950"/>
            <a:ext cx="4146699" cy="3061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4932df862_1_43"/>
          <p:cNvSpPr/>
          <p:nvPr/>
        </p:nvSpPr>
        <p:spPr>
          <a:xfrm>
            <a:off x="3048000" y="1581155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94932df862_1_43"/>
          <p:cNvSpPr txBox="1"/>
          <p:nvPr/>
        </p:nvSpPr>
        <p:spPr>
          <a:xfrm>
            <a:off x="1905000" y="803252"/>
            <a:ext cx="8763000" cy="9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Impact of Previous Failures</a:t>
            </a:r>
            <a:endParaRPr b="1" sz="1300">
              <a:solidFill>
                <a:schemeClr val="dk1"/>
              </a:solidFill>
            </a:endParaRPr>
          </a:p>
          <a:p>
            <a:pPr indent="-342900" lvl="0" marL="342900" marR="0" rtl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FF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3" name="Google Shape;153;g394932df862_1_43"/>
          <p:cNvSpPr txBox="1"/>
          <p:nvPr/>
        </p:nvSpPr>
        <p:spPr>
          <a:xfrm>
            <a:off x="914400" y="1752600"/>
            <a:ext cx="88392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CC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 lvl="0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1700">
                <a:solidFill>
                  <a:srgbClr val="33CCC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</a:t>
            </a:r>
            <a:r>
              <a:rPr b="1" lang="en-IN" sz="1700">
                <a:solidFill>
                  <a:srgbClr val="33CCCC"/>
                </a:solidFill>
              </a:rPr>
              <a:t>Observation:</a:t>
            </a:r>
            <a:r>
              <a:rPr lang="en-IN" sz="1700">
                <a:solidFill>
                  <a:srgbClr val="33CCCC"/>
                </a:solidFill>
              </a:rPr>
              <a:t> </a:t>
            </a:r>
            <a:endParaRPr b="1" sz="1100">
              <a:solidFill>
                <a:schemeClr val="dk1"/>
              </a:solidFill>
            </a:endParaRPr>
          </a:p>
          <a:p>
            <a:pPr indent="-317500" lvl="0" marL="5029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>
                <a:solidFill>
                  <a:schemeClr val="dk1"/>
                </a:solidFill>
              </a:rPr>
              <a:t>Students with </a:t>
            </a:r>
            <a:r>
              <a:rPr b="1" lang="en-IN">
                <a:solidFill>
                  <a:schemeClr val="dk1"/>
                </a:solidFill>
              </a:rPr>
              <a:t>zero</a:t>
            </a:r>
            <a:r>
              <a:rPr lang="en-IN">
                <a:solidFill>
                  <a:schemeClr val="dk1"/>
                </a:solidFill>
              </a:rPr>
              <a:t> past failures are overwhelmingly in the Low and Medium risk groups.</a:t>
            </a:r>
            <a:endParaRPr>
              <a:solidFill>
                <a:schemeClr val="dk1"/>
              </a:solidFill>
            </a:endParaRPr>
          </a:p>
          <a:p>
            <a:pPr indent="0" lvl="0" marL="5029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5029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>
                <a:solidFill>
                  <a:schemeClr val="dk1"/>
                </a:solidFill>
              </a:rPr>
              <a:t>As the number of failures increases, the proportion of </a:t>
            </a:r>
            <a:r>
              <a:rPr b="1" lang="en-IN">
                <a:solidFill>
                  <a:schemeClr val="dk1"/>
                </a:solidFill>
              </a:rPr>
              <a:t>High Risk</a:t>
            </a:r>
            <a:r>
              <a:rPr lang="en-IN">
                <a:solidFill>
                  <a:schemeClr val="dk1"/>
                </a:solidFill>
              </a:rPr>
              <a:t> students skyrockets. This is a major red flag.</a:t>
            </a:r>
            <a:endParaRPr>
              <a:solidFill>
                <a:schemeClr val="dk1"/>
              </a:solidFill>
            </a:endParaRPr>
          </a:p>
          <a:p>
            <a:pPr indent="457200" lvl="0" marL="4572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33CCCC"/>
              </a:solidFill>
            </a:endParaRPr>
          </a:p>
          <a:p>
            <a:pPr indent="457200" lvl="0" marL="4572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                   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54" name="Google Shape;154;g394932df862_1_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4375" y="2062950"/>
            <a:ext cx="4395124" cy="3394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7d09227d40_1_0"/>
          <p:cNvSpPr/>
          <p:nvPr/>
        </p:nvSpPr>
        <p:spPr>
          <a:xfrm>
            <a:off x="3048000" y="1581155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7d09227d40_1_0"/>
          <p:cNvSpPr txBox="1"/>
          <p:nvPr/>
        </p:nvSpPr>
        <p:spPr>
          <a:xfrm>
            <a:off x="1905000" y="1143002"/>
            <a:ext cx="876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Models Implemented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7d09227d40_1_0"/>
          <p:cNvSpPr txBox="1"/>
          <p:nvPr/>
        </p:nvSpPr>
        <p:spPr>
          <a:xfrm>
            <a:off x="980025" y="1897600"/>
            <a:ext cx="88392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We trained and tuned four classification models to find the most accurate predictor.</a:t>
            </a:r>
            <a:endParaRPr sz="1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●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All models tuned with </a:t>
            </a:r>
            <a:r>
              <a:rPr b="1"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GridSearchCV (5-fold CV)</a:t>
            </a:r>
            <a:endParaRPr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●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Used </a:t>
            </a:r>
            <a:r>
              <a:rPr b="1"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class_weight='balanced'</a:t>
            </a: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to handle imbalanced classes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63" name="Google Shape;163;g37d09227d40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0025" y="3007950"/>
            <a:ext cx="6982799" cy="211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4932df862_1_60"/>
          <p:cNvSpPr/>
          <p:nvPr/>
        </p:nvSpPr>
        <p:spPr>
          <a:xfrm>
            <a:off x="3048000" y="1581155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94932df862_1_60"/>
          <p:cNvSpPr txBox="1"/>
          <p:nvPr/>
        </p:nvSpPr>
        <p:spPr>
          <a:xfrm>
            <a:off x="1905000" y="1143002"/>
            <a:ext cx="876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Models Implemented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94932df862_1_60"/>
          <p:cNvSpPr txBox="1"/>
          <p:nvPr/>
        </p:nvSpPr>
        <p:spPr>
          <a:xfrm>
            <a:off x="980025" y="1897600"/>
            <a:ext cx="88392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72" name="Google Shape;172;g394932df862_1_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4550" y="1897600"/>
            <a:ext cx="8267700" cy="450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7d09227d40_1_14"/>
          <p:cNvSpPr/>
          <p:nvPr/>
        </p:nvSpPr>
        <p:spPr>
          <a:xfrm>
            <a:off x="3048000" y="1581155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7d09227d40_1_14"/>
          <p:cNvSpPr txBox="1"/>
          <p:nvPr/>
        </p:nvSpPr>
        <p:spPr>
          <a:xfrm>
            <a:off x="1905000" y="1143002"/>
            <a:ext cx="876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Model Evaluation Metrics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37d09227d40_1_14"/>
          <p:cNvSpPr txBox="1"/>
          <p:nvPr/>
        </p:nvSpPr>
        <p:spPr>
          <a:xfrm>
            <a:off x="914400" y="1752600"/>
            <a:ext cx="8839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1700">
                <a:solidFill>
                  <a:srgbClr val="33CCCC"/>
                </a:solidFill>
                <a:latin typeface="Trebuchet MS"/>
                <a:ea typeface="Trebuchet MS"/>
                <a:cs typeface="Trebuchet MS"/>
                <a:sym typeface="Trebuchet MS"/>
              </a:rPr>
              <a:t>Metrics Used:</a:t>
            </a:r>
            <a:endParaRPr b="1" i="0" sz="1700" u="none" cap="none" strike="noStrike">
              <a:solidFill>
                <a:srgbClr val="33CC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•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Accuracy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•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Precision, Recall, F1-score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•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Confusion Matrix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•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Overfitting Analysis</a:t>
            </a:r>
            <a:endParaRPr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For this task, Recall on “High Risk” class was prioritized over overall accuracy.</a:t>
            </a:r>
            <a:endParaRPr sz="11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Most Important Metric: High-Risk Recall</a:t>
            </a:r>
            <a:endParaRPr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For this project, overall accuracy was not our primary goal. Our focus was on creating a reliable early-warning system.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Our Priority: Maximize Recall for the "High Risk" Class.</a:t>
            </a:r>
            <a:endParaRPr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What this means:</a:t>
            </a: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We tuned our models to be exceptional at finding </a:t>
            </a:r>
            <a:r>
              <a:rPr b="1"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every student who is truly at high risk</a:t>
            </a: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●"/>
            </a:pPr>
            <a:r>
              <a:rPr b="1"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Why this is crucial:</a:t>
            </a:r>
            <a:endParaRPr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 </a:t>
            </a:r>
            <a:r>
              <a:rPr b="1"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False Negative</a:t>
            </a: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(missing a high-risk student) is a critical failure. That student might not get the support they need.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 </a:t>
            </a:r>
            <a:r>
              <a:rPr b="1"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False Positive</a:t>
            </a: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(mistakenly flagging a medium-risk student) is acceptable. The consequence is simply providing extra attention to a student who may not have needed it.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7"/>
          <p:cNvSpPr txBox="1"/>
          <p:nvPr/>
        </p:nvSpPr>
        <p:spPr>
          <a:xfrm>
            <a:off x="2895600" y="1143002"/>
            <a:ext cx="77724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Results Summary</a:t>
            </a:r>
            <a:endParaRPr b="0" i="0" sz="2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7" name="Google Shape;187;p7"/>
          <p:cNvSpPr txBox="1"/>
          <p:nvPr/>
        </p:nvSpPr>
        <p:spPr>
          <a:xfrm>
            <a:off x="8782700" y="2003225"/>
            <a:ext cx="30423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Best Model:</a:t>
            </a:r>
            <a:r>
              <a:rPr b="1"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XGBoost</a:t>
            </a:r>
            <a:endParaRPr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●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High Recall for High-Risk students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●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Robust and Generalizable (minimal overfitting)</a:t>
            </a:r>
            <a:endParaRPr b="0" i="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88" name="Google Shape;188;p7"/>
          <p:cNvPicPr preferRelativeResize="0"/>
          <p:nvPr/>
        </p:nvPicPr>
        <p:blipFill rotWithShape="1">
          <a:blip r:embed="rId3">
            <a:alphaModFix/>
          </a:blip>
          <a:srcRect b="2660" l="0" r="0" t="-2659"/>
          <a:stretch/>
        </p:blipFill>
        <p:spPr>
          <a:xfrm>
            <a:off x="957325" y="1786637"/>
            <a:ext cx="3219699" cy="242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6953" y="4393922"/>
            <a:ext cx="4251325" cy="2252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76950" y="1849375"/>
            <a:ext cx="4251325" cy="242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57325" y="4376000"/>
            <a:ext cx="3219701" cy="22882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94932df862_1_73"/>
          <p:cNvSpPr/>
          <p:nvPr/>
        </p:nvSpPr>
        <p:spPr>
          <a:xfrm>
            <a:off x="2720575" y="1432330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94932df862_1_73"/>
          <p:cNvSpPr txBox="1"/>
          <p:nvPr/>
        </p:nvSpPr>
        <p:spPr>
          <a:xfrm>
            <a:off x="1577575" y="994177"/>
            <a:ext cx="876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Recommended Model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394932df862_1_73"/>
          <p:cNvSpPr txBox="1"/>
          <p:nvPr/>
        </p:nvSpPr>
        <p:spPr>
          <a:xfrm>
            <a:off x="652600" y="1748775"/>
            <a:ext cx="88392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700">
                <a:solidFill>
                  <a:srgbClr val="33CCCC"/>
                </a:solidFill>
                <a:latin typeface="Trebuchet MS"/>
                <a:ea typeface="Trebuchet MS"/>
                <a:cs typeface="Trebuchet MS"/>
                <a:sym typeface="Trebuchet MS"/>
              </a:rPr>
              <a:t>The Best Model for the Job : XGBoost</a:t>
            </a:r>
            <a:endParaRPr b="1" sz="1700">
              <a:solidFill>
                <a:srgbClr val="33CC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While Random Forest had the highest accuracy, </a:t>
            </a:r>
            <a:r>
              <a:rPr b="1"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XGBoost</a:t>
            </a: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is the superior choice. It offers the best balance of </a:t>
            </a:r>
            <a:r>
              <a:rPr b="1"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high accuracy</a:t>
            </a: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b="1"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strong reliability</a:t>
            </a: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(no overfitting), and most importantly, it excels at </a:t>
            </a:r>
            <a:r>
              <a:rPr b="1"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identifying high-risk students</a:t>
            </a: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700">
                <a:solidFill>
                  <a:srgbClr val="33CCCC"/>
                </a:solidFill>
                <a:latin typeface="Trebuchet MS"/>
                <a:ea typeface="Trebuchet MS"/>
                <a:cs typeface="Trebuchet MS"/>
                <a:sym typeface="Trebuchet MS"/>
              </a:rPr>
              <a:t>The Main Story from the Data:</a:t>
            </a:r>
            <a:endParaRPr b="1" sz="1700">
              <a:solidFill>
                <a:srgbClr val="33CC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The strongest predictors of a student's future academic risk are their past academic performance (G_avg, failures) and their engagement with school (absences).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8"/>
          <p:cNvSpPr txBox="1"/>
          <p:nvPr/>
        </p:nvSpPr>
        <p:spPr>
          <a:xfrm>
            <a:off x="2895600" y="1143002"/>
            <a:ext cx="77724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891" lvl="0" marL="34289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Key Predictive Factors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8"/>
          <p:cNvSpPr txBox="1"/>
          <p:nvPr/>
        </p:nvSpPr>
        <p:spPr>
          <a:xfrm>
            <a:off x="1295400" y="1905000"/>
            <a:ext cx="88392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700">
                <a:solidFill>
                  <a:srgbClr val="33CCCC"/>
                </a:solidFill>
                <a:latin typeface="Trebuchet MS"/>
                <a:ea typeface="Trebuchet MS"/>
                <a:cs typeface="Trebuchet MS"/>
                <a:sym typeface="Trebuchet MS"/>
              </a:rPr>
              <a:t>Top 5 Influential Features (from XGBoost):</a:t>
            </a:r>
            <a:endParaRPr sz="1700">
              <a:solidFill>
                <a:srgbClr val="33CC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G_avg → Prior grades are strongest predictor</a:t>
            </a:r>
            <a:b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failures → Past failures increase risk</a:t>
            </a:r>
            <a:b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absences → Proxy for disengagement</a:t>
            </a:r>
            <a:b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Medu, Fedu → Parental education strongly influences outcomes</a:t>
            </a:r>
            <a:b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studytime → Direct correlation with performance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948ace3d7c_0_61"/>
          <p:cNvSpPr/>
          <p:nvPr/>
        </p:nvSpPr>
        <p:spPr>
          <a:xfrm>
            <a:off x="3048000" y="1581155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948ace3d7c_0_61"/>
          <p:cNvSpPr txBox="1"/>
          <p:nvPr/>
        </p:nvSpPr>
        <p:spPr>
          <a:xfrm>
            <a:off x="2895600" y="1143002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891" lvl="0" marL="34289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Actionable Insights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948ace3d7c_0_61"/>
          <p:cNvSpPr txBox="1"/>
          <p:nvPr/>
        </p:nvSpPr>
        <p:spPr>
          <a:xfrm>
            <a:off x="1295400" y="1905000"/>
            <a:ext cx="88392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700">
                <a:solidFill>
                  <a:srgbClr val="33CCCC"/>
                </a:solidFill>
                <a:latin typeface="Trebuchet MS"/>
                <a:ea typeface="Trebuchet MS"/>
                <a:cs typeface="Trebuchet MS"/>
                <a:sym typeface="Trebuchet MS"/>
              </a:rPr>
              <a:t>The generated file: </a:t>
            </a: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xgboost_predictions.csv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Provides: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655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rebuchet MS"/>
              <a:buChar char="○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Predicted risk for each student</a:t>
            </a:r>
            <a:b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655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rebuchet MS"/>
              <a:buChar char="○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Actual vs Predicted category</a:t>
            </a:r>
            <a:b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655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rebuchet MS"/>
              <a:buChar char="○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Key indicators (G_avg, failures, absences)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700">
                <a:solidFill>
                  <a:srgbClr val="33CCCC"/>
                </a:solidFill>
                <a:latin typeface="Trebuchet MS"/>
                <a:ea typeface="Trebuchet MS"/>
                <a:cs typeface="Trebuchet MS"/>
                <a:sym typeface="Trebuchet MS"/>
              </a:rPr>
              <a:t>How educators can use it:</a:t>
            </a:r>
            <a:endParaRPr sz="1700">
              <a:solidFill>
                <a:srgbClr val="33CC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CC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655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Trebuchet MS"/>
              <a:buChar char="○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Filter “High Risk” students</a:t>
            </a:r>
            <a:b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655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Trebuchet MS"/>
              <a:buChar char="○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Review individual academic patterns</a:t>
            </a:r>
            <a:b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655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Trebuchet MS"/>
              <a:buChar char="○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Offer counseling, extra support, or parental outreach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948ace3d7c_0_72"/>
          <p:cNvSpPr/>
          <p:nvPr/>
        </p:nvSpPr>
        <p:spPr>
          <a:xfrm>
            <a:off x="3048000" y="1581155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948ace3d7c_0_72"/>
          <p:cNvSpPr txBox="1"/>
          <p:nvPr/>
        </p:nvSpPr>
        <p:spPr>
          <a:xfrm>
            <a:off x="2895600" y="1143002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891" lvl="0" marL="34289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Conclusion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948ace3d7c_0_72"/>
          <p:cNvSpPr txBox="1"/>
          <p:nvPr/>
        </p:nvSpPr>
        <p:spPr>
          <a:xfrm>
            <a:off x="1295400" y="1905000"/>
            <a:ext cx="8839200" cy="24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Developed a </a:t>
            </a:r>
            <a:r>
              <a:rPr b="1"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reliable early warning system</a:t>
            </a:r>
            <a:endParaRPr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XGBoost achieved </a:t>
            </a:r>
            <a:r>
              <a:rPr b="1"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high recall and balanced accuracy</a:t>
            </a:r>
            <a:endParaRPr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●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Identified meaningful academic and behavioral drivers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●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Generated actionable reports for educators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1700">
                <a:solidFill>
                  <a:srgbClr val="33CCCC"/>
                </a:solidFill>
                <a:latin typeface="Trebuchet MS"/>
                <a:ea typeface="Trebuchet MS"/>
                <a:cs typeface="Trebuchet MS"/>
                <a:sym typeface="Trebuchet MS"/>
              </a:rPr>
              <a:t>Future Work:</a:t>
            </a:r>
            <a:endParaRPr i="1" sz="11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●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Add real-time dashboard for student monitoring</a:t>
            </a:r>
            <a:b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●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Integrate dropout prediction pipeline</a:t>
            </a:r>
            <a:endParaRPr sz="270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948ace3d7c_0_80"/>
          <p:cNvSpPr/>
          <p:nvPr/>
        </p:nvSpPr>
        <p:spPr>
          <a:xfrm>
            <a:off x="3048000" y="1581155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948ace3d7c_0_80"/>
          <p:cNvSpPr txBox="1"/>
          <p:nvPr/>
        </p:nvSpPr>
        <p:spPr>
          <a:xfrm>
            <a:off x="2895600" y="1143002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891" lvl="0" marL="34289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Results &amp; Visualization</a:t>
            </a:r>
            <a:endParaRPr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7" name="Google Shape;227;g3948ace3d7c_0_80"/>
          <p:cNvSpPr txBox="1"/>
          <p:nvPr/>
        </p:nvSpPr>
        <p:spPr>
          <a:xfrm>
            <a:off x="1295400" y="1905000"/>
            <a:ext cx="8839200" cy="15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7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Model Performance Summary:</a:t>
            </a:r>
            <a:endParaRPr sz="17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3CC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228" name="Google Shape;228;g3948ace3d7c_0_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7000" y="2510175"/>
            <a:ext cx="4980900" cy="159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g3948ace3d7c_0_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7000" y="4219225"/>
            <a:ext cx="6705600" cy="166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948ace3d7c_0_89"/>
          <p:cNvSpPr/>
          <p:nvPr/>
        </p:nvSpPr>
        <p:spPr>
          <a:xfrm>
            <a:off x="3048000" y="1581155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948ace3d7c_0_89"/>
          <p:cNvSpPr txBox="1"/>
          <p:nvPr/>
        </p:nvSpPr>
        <p:spPr>
          <a:xfrm>
            <a:off x="2895600" y="1143002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891" lvl="0" marL="34289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Results &amp; Visualization</a:t>
            </a:r>
            <a:endParaRPr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6" name="Google Shape;236;g3948ace3d7c_0_89"/>
          <p:cNvSpPr txBox="1"/>
          <p:nvPr/>
        </p:nvSpPr>
        <p:spPr>
          <a:xfrm>
            <a:off x="1295400" y="1751700"/>
            <a:ext cx="8839200" cy="9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100">
                <a:solidFill>
                  <a:schemeClr val="dk1"/>
                </a:solidFill>
              </a:rPr>
              <a:t>Model Performance Summary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237" name="Google Shape;237;g3948ace3d7c_0_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2925" y="2146188"/>
            <a:ext cx="2693200" cy="2216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g3948ace3d7c_0_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8400" y="2146200"/>
            <a:ext cx="2693200" cy="2216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g3948ace3d7c_0_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32925" y="4459850"/>
            <a:ext cx="2693200" cy="2216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g3948ace3d7c_0_8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68400" y="4459850"/>
            <a:ext cx="2693200" cy="2216824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g3948ace3d7c_0_89"/>
          <p:cNvSpPr txBox="1"/>
          <p:nvPr/>
        </p:nvSpPr>
        <p:spPr>
          <a:xfrm>
            <a:off x="7415900" y="1986650"/>
            <a:ext cx="3850800" cy="4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700">
                <a:solidFill>
                  <a:srgbClr val="33CCCC"/>
                </a:solidFill>
                <a:latin typeface="Trebuchet MS"/>
                <a:ea typeface="Trebuchet MS"/>
                <a:cs typeface="Trebuchet MS"/>
                <a:sym typeface="Trebuchet MS"/>
              </a:rPr>
              <a:t>Excel Output:</a:t>
            </a:r>
            <a:endParaRPr sz="1700">
              <a:solidFill>
                <a:srgbClr val="33CC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●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Predicted dropout risk saved in dropout_predictions.xlsx</a:t>
            </a:r>
            <a:b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Contains columns: Student ID, Actual Risk, Predicted Risk, Probability Score</a:t>
            </a:r>
            <a:b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700">
                <a:solidFill>
                  <a:srgbClr val="33CCCC"/>
                </a:solidFill>
                <a:latin typeface="Trebuchet MS"/>
                <a:ea typeface="Trebuchet MS"/>
                <a:cs typeface="Trebuchet MS"/>
                <a:sym typeface="Trebuchet MS"/>
              </a:rPr>
              <a:t>Takeaway:</a:t>
            </a:r>
            <a:endParaRPr sz="1700">
              <a:solidFill>
                <a:srgbClr val="33CC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●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Gradient Boosting achieved the highest accuracy and recall, effectively identifying high-risk students early.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948ace3d7c_0_103"/>
          <p:cNvSpPr/>
          <p:nvPr/>
        </p:nvSpPr>
        <p:spPr>
          <a:xfrm>
            <a:off x="3048000" y="1581155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g3948ace3d7c_0_103"/>
          <p:cNvSpPr txBox="1"/>
          <p:nvPr/>
        </p:nvSpPr>
        <p:spPr>
          <a:xfrm>
            <a:off x="2895600" y="919225"/>
            <a:ext cx="7772400" cy="9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References &amp;</a:t>
            </a:r>
            <a:r>
              <a:rPr b="1" lang="en-IN" sz="1300">
                <a:solidFill>
                  <a:schemeClr val="dk1"/>
                </a:solidFill>
              </a:rPr>
              <a:t> </a:t>
            </a:r>
            <a:r>
              <a:rPr lang="en-IN" sz="2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Acknowledgments</a:t>
            </a:r>
            <a:endParaRPr b="1" sz="1300">
              <a:solidFill>
                <a:schemeClr val="dk1"/>
              </a:solidFill>
            </a:endParaRPr>
          </a:p>
          <a:p>
            <a:pPr indent="-342891" lvl="0" marL="342891" marR="0" rtl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8" name="Google Shape;248;g3948ace3d7c_0_103"/>
          <p:cNvSpPr txBox="1"/>
          <p:nvPr/>
        </p:nvSpPr>
        <p:spPr>
          <a:xfrm>
            <a:off x="1295400" y="1905000"/>
            <a:ext cx="8839200" cy="21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●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GitHub Repository: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u="sng">
                <a:solidFill>
                  <a:schemeClr val="hlink"/>
                </a:solidFill>
                <a:latin typeface="Trebuchet MS"/>
                <a:ea typeface="Trebuchet MS"/>
                <a:cs typeface="Trebuchet MS"/>
                <a:sym typeface="Trebuchet MS"/>
                <a:hlinkClick r:id="rId3"/>
              </a:rPr>
              <a:t>https://github.com/ananyalakshmi9/Student-Performance-Early-Warning-System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●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Faculty: Dr Prema R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●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Teaching Assistants: 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○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Rojas Binny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○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Keerthana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○"/>
            </a:pPr>
            <a:r>
              <a:rPr lang="en-I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Kaamya Jha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"/>
          <p:cNvSpPr/>
          <p:nvPr/>
        </p:nvSpPr>
        <p:spPr>
          <a:xfrm>
            <a:off x="4371485" y="3352800"/>
            <a:ext cx="250658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i="0" lang="en-IN" sz="4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</a:t>
            </a:r>
            <a:endParaRPr i="0" sz="1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2020-11-22T08:14:37Z</dcterms:created>
  <dc:creator>Sunitha 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</Properties>
</file>